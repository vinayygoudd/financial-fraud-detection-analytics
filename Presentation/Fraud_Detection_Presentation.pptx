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E84040">
              <a:alpha val="30000"/>
            </a:srgbClr>
          </a:solidFill>
          <a:ln w="12700">
            <a:solidFill>
              <a:srgbClr val="E8404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2194560" cy="29260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1762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 Analytics System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114800" cy="274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Synthetic Financial Transactions  |  </a:t>
            </a:r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10,000+ Records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MySQL  ·  Power BI  ·  Scikit-learn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60520"/>
            <a:ext cx="5029200" cy="6858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42519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Dudala Vinay Kumar Goud (Tony)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5079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· GNIT Hyderabad · github.com/vinayygoudd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fraud detection matter — and what are we solving?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8503920" cy="10058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155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fintech digital payments company is experiencing fraud losses across CASH_OUT and TRANSFER transactions. The existing rule-based flag system misses 78%+ of actual fraud. Leadership needs an analytics-driven system to detect fraud patterns, monitor KPIs, and support investigation teams.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67128"/>
            <a:ext cx="4297680" cy="713232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Fraud Analytics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487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transaction types, amounts, and times drive fraud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167128"/>
            <a:ext cx="4297680" cy="713232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Pattern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487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account-drain, balance-mismatch, and velocity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008376"/>
            <a:ext cx="4297680" cy="713232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0540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 Risk Scoring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33284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0–100 probability score to every transaction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3008376"/>
            <a:ext cx="4297680" cy="713232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30540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KPI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33284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Power BI dashboard — Fraud Rate %, Loss, Detection Rate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849624"/>
            <a:ext cx="4297680" cy="713232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3895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Alert Prioritization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1696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High/Critical alerts to investigators first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849624"/>
            <a:ext cx="4297680" cy="713232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389534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Recommendations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41696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rules for real-time fraud prevention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PaySim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simulation of real mobile money transactions | Kaggle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926080" cy="6858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926080" cy="36576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3385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 (full dataset)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01368"/>
            <a:ext cx="2926080" cy="6858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01368"/>
            <a:ext cx="2926080" cy="36576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1109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0040" y="2395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analyzed in this project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78608"/>
            <a:ext cx="2926080" cy="6858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78608"/>
            <a:ext cx="2926080" cy="3657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6883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0040" y="3172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(severely imbalanced)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355848"/>
            <a:ext cx="2926080" cy="6858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355848"/>
            <a:ext cx="2926080" cy="36576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46557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20040" y="3950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33088"/>
            <a:ext cx="2926080" cy="6858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33088"/>
            <a:ext cx="2926080" cy="36576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24281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20040" y="47274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feature engineering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1024128"/>
            <a:ext cx="5303520" cy="384048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03320" y="11155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03320" y="14447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14447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simulation (1–744 = 31 days)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03320" y="18013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1801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CASH_OUT | PAYMENT | CASH_IN | TRANSFER | DEBIT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03320" y="21579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0" y="21579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 in USD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03320" y="2514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oldbalanceOrg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2514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balance BEFORE transaction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03320" y="2871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newbalanceOrig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77840" y="28712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balance AFTER transaction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70332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oldbalanceDest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3227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balance BEFORE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03320" y="3584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newbalanceDest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77840" y="35844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balance AFTER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703320" y="39410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isFraud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77840" y="3941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 = Fraud, 0 = Legitimate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03320" y="4297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77840" y="42976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flag (existing rule-based detection)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20440" y="4572000"/>
            <a:ext cx="5303520" cy="457200"/>
          </a:xfrm>
          <a:prstGeom prst="rect">
            <a:avLst/>
          </a:prstGeom>
          <a:solidFill>
            <a:srgbClr val="1A2F5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46177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Domain Rule: Fraud occurs ONLY in CASH_OUT and TRANSFER — never PAYMENT, CASH_IN, or DEBIT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systematic cleaning with logging, validation, and feature engineering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24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Audit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shape, dtypes, missing values, duplicates, fraud rate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65376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1773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balances → 0 (new accounts); numerics → median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615184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523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2779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duplicate rows removed (system retry artifacts)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36499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Amounts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35295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zero/negative amounts (system test records)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114800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2793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at 99.9th percentile — never remove (fraud = large amounts)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115568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024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new features: zero_balance_after, risk_score, amount_to_balance...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1865376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1773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type_encoded (Label Encoding — tree-model compatible)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615184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25237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66360" y="27797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0 nulls, 0 dupes, valid amounts, all features present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364992"/>
            <a:ext cx="384048" cy="38404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66360" y="3273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Cleaned CSV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5295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25-column analysis-ready dataset → cleaned_transactions.csv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46268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Outliers NOT removed — large transactions are the fraud signal. Capping preserves signal while limiting numerical instability in ML models.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· Bivariate · Multivariate · Fraud Pattern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43200" cy="16002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43200" cy="5486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15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Severely imbalanced — accuracy is a misleading metric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024128"/>
            <a:ext cx="2743200" cy="16002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24128"/>
            <a:ext cx="2743200" cy="54864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115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4612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in CASH_OUT/TRANSFER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1965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fraud in PAYMENT, CASH_IN, DEBIT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024128"/>
            <a:ext cx="2743200" cy="16002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24128"/>
            <a:ext cx="2743200" cy="5486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1155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18×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72200" y="1709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Zero-Balance Fraud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19659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drained to $0 vs overall average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852928"/>
            <a:ext cx="2743200" cy="16002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52928"/>
            <a:ext cx="2743200" cy="54864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944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0040" y="3538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vs Legit Amount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0040" y="3794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fraud transaction is 3.5× larger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852928"/>
            <a:ext cx="2743200" cy="16002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852928"/>
            <a:ext cx="2743200" cy="54864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944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246120" y="3538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in Top Decile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46120" y="3794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by amount drives 60%+ of fraud loss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2852928"/>
            <a:ext cx="2743200" cy="160020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852928"/>
            <a:ext cx="2743200" cy="54864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4436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172200" y="35387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Correlation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72200" y="3794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zero_balance_after → isFraud correlation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1A2F50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90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Correlation heatmap confirmed zero_balance_after as #1 predictor — directly informing feature selection for ML models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Analytics — 19 Business Queries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Window Functions · CTEs · Stored Procedures · Views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5120640" cy="32004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9728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Fraud Rate by Transaction Type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350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9B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type,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7007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AS total_transactions,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SUM(is_fraud) AS fraud_count,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06654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ROUND(SUM(is_fraud)/COUNT(*)*100, 4)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2494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fraud_rate_pct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43230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transactions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type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7980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fraud_rate_pct DESC;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298094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1638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Window Function: Running Fraud Loss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57200" y="334670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9B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SUM(fraud_loss) OVER (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52958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BY hour_of_day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371246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ROWS BETWEEN UNBOUNDED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389534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PRECEDING AND CURRENT ROW)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4078224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A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cumulative_fraud_loss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77840" y="1024128"/>
            <a:ext cx="3246120" cy="32004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15000" y="111556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CATEGORIES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14173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Business KPIs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160020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Fraud rate, loss, detection rate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15000" y="176479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Time Pattern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194767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Peak fraud hours, weekday analysis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15000" y="211226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RANK / DENSE_RANK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15000" y="229514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Account rankings by fraud loss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15000" y="245973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LAG / LEAD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15000" y="2642616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Consecutive fraud detection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715000" y="280720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15000" y="299008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Multi-signal fraud scoring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715000" y="315468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Stored Procedures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15000" y="333756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Parameterized report generation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15000" y="35021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Views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15000" y="3685032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Analyst investigation workqueue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15000" y="3849624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Precision &amp; Recall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15000" y="403250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Model validation in SQL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0040" y="4315968"/>
            <a:ext cx="8503920" cy="5943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57200" y="4389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  |  </a:t>
            </a:r>
            <a:pPr indent="0" marL="0">
              <a:buNone/>
            </a:pPr>
            <a:r>
              <a:rPr lang="en-US" sz="2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</a:t>
            </a:r>
            <a:pPr indent="0" marL="0">
              <a:buNone/>
            </a:pPr>
            <a:r>
              <a:rPr lang="en-US" sz="13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Queries  |  All queries explained line-by-line with business context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3 Interpretable Models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· Decision Tree · Random Forest | class_weight='balanced'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solidFill>
            <a:srgbClr val="3D1A1A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B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KEY CHALLENGE: 0.60% fraud rate — a model predicting 'NOT FRAUD' for everything gets 99.4% accuracy. Solution: Recall &gt; Accuracy. Use class_weight='balanced'.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788920" cy="3035808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788920" cy="54864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01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fraud probability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395728"/>
            <a:ext cx="260604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505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C=0.1 · class_weight='balanced'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max_iter=1000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218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fraud probability scoring — outputs calibrated 0–1 probability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91840" y="1691640"/>
            <a:ext cx="2788920" cy="3035808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691640"/>
            <a:ext cx="2788920" cy="54864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801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1031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explainable rules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2395728"/>
            <a:ext cx="260604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4505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max_depth=6 · min_samples_leaf=10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class_weight='balanced'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3218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rules: IF CASH_OUT AND balance=0 → FRAUD. Printable decision tree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2788920" cy="3035808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691640"/>
            <a:ext cx="2788920" cy="5486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80136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21031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+ feature importance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2395728"/>
            <a:ext cx="2606040" cy="7315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4505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trees · max_depth=8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class_weight='balanced_subsample'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321868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reduces variance dramatically. Feature importance guides business rules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773168"/>
            <a:ext cx="8503920" cy="3474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ROC-AUC · Precision · Recall · F1-Score · Confusion Matrix · Precision-Recall Curve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Recall matters more than Accuracy for fraud detection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1031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024128"/>
            <a:ext cx="10058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024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024128"/>
            <a:ext cx="10058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024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1024128"/>
            <a:ext cx="10058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024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40680" y="1024128"/>
            <a:ext cx="10058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1024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46520" y="1024128"/>
            <a:ext cx="1554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024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371600"/>
            <a:ext cx="210312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423160" y="1371600"/>
            <a:ext cx="10058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~0.68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1371600"/>
            <a:ext cx="10058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34840" y="1371600"/>
            <a:ext cx="10058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40680" y="1371600"/>
            <a:ext cx="100584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46520" y="1371600"/>
            <a:ext cx="1554480" cy="365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1371600"/>
            <a:ext cx="1554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baseline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1755648"/>
            <a:ext cx="2103120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1755648"/>
            <a:ext cx="2103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23160" y="1755648"/>
            <a:ext cx="1005840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1755648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29000" y="1755648"/>
            <a:ext cx="1005840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29000" y="1755648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34840" y="1755648"/>
            <a:ext cx="1005840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4840" y="1755648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~0.72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1755648"/>
            <a:ext cx="1005840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1755648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46520" y="1755648"/>
            <a:ext cx="1554480" cy="36576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1755648"/>
            <a:ext cx="1554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rules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2139696"/>
            <a:ext cx="2103120" cy="365760"/>
          </a:xfrm>
          <a:prstGeom prst="rect">
            <a:avLst/>
          </a:prstGeom>
          <a:solidFill>
            <a:srgbClr val="E8F8E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139696"/>
            <a:ext cx="2103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★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23160" y="2139696"/>
            <a:ext cx="1005840" cy="365760"/>
          </a:xfrm>
          <a:prstGeom prst="rect">
            <a:avLst/>
          </a:prstGeom>
          <a:solidFill>
            <a:srgbClr val="E8F8E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3160" y="2139696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29000" y="2139696"/>
            <a:ext cx="1005840" cy="365760"/>
          </a:xfrm>
          <a:prstGeom prst="rect">
            <a:avLst/>
          </a:prstGeom>
          <a:solidFill>
            <a:srgbClr val="E8F8E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2139696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~0.78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34840" y="2139696"/>
            <a:ext cx="1005840" cy="365760"/>
          </a:xfrm>
          <a:prstGeom prst="rect">
            <a:avLst/>
          </a:prstGeom>
          <a:solidFill>
            <a:srgbClr val="E8F8E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34840" y="2139696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~0.76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40680" y="2139696"/>
            <a:ext cx="1005840" cy="365760"/>
          </a:xfrm>
          <a:prstGeom prst="rect">
            <a:avLst/>
          </a:prstGeom>
          <a:solidFill>
            <a:srgbClr val="E8F8E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0680" y="2139696"/>
            <a:ext cx="10058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~0.92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446520" y="2139696"/>
            <a:ext cx="1554480" cy="365760"/>
          </a:xfrm>
          <a:prstGeom prst="rect">
            <a:avLst/>
          </a:prstGeom>
          <a:solidFill>
            <a:srgbClr val="E8F8E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2139696"/>
            <a:ext cx="155448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2395728"/>
            <a:ext cx="4160520" cy="74980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29768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0.78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29768" y="2743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catch 78% of all actual fraud transactions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3310128"/>
            <a:ext cx="4160520" cy="74980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29768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0.92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29768" y="3657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ranks fraud above legit 92% of the time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2395728"/>
            <a:ext cx="4160520" cy="74980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773168" y="2468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773168" y="2743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dangerous error — fraud transaction missed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663440" y="3310128"/>
            <a:ext cx="4160520" cy="74980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773168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773168" y="3657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loss function — no data augmentation needed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20040" y="4315968"/>
            <a:ext cx="8503920" cy="5486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438912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Random Forest selected as production model — highest Recall &amp; AUC. LR retained for probability scoring. DT retained for rule extraction.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What Drives Fraud?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 scores → actionable business rules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zero_balance_after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060704"/>
            <a:ext cx="2487168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21808" y="1024128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 · Account drained to $0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9047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amount_to_balance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527048"/>
            <a:ext cx="1865376" cy="25603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016" y="1490472"/>
            <a:ext cx="3621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 · Amount vs available funds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95681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balance_diff_orig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1993392"/>
            <a:ext cx="1399032" cy="25603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956816"/>
            <a:ext cx="4087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 · Balance drop magnitude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4231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type_encoded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2459736"/>
            <a:ext cx="932688" cy="25603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2423160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 · CASH_OUT / TRANSFER flag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8895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is_extreme_amount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926080"/>
            <a:ext cx="544068" cy="256032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8708" y="2889504"/>
            <a:ext cx="49423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 · Amount &gt; $200K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3355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balance_diff_dest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0" y="3392424"/>
            <a:ext cx="310896" cy="256032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45536" y="335584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 · Receiver balance change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38221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hour_of_day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3858768"/>
            <a:ext cx="155448" cy="256032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0088" y="3822192"/>
            <a:ext cx="5330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 · Time pattern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42885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0" y="4325112"/>
            <a:ext cx="77724" cy="256032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12364" y="4288536"/>
            <a:ext cx="5408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 · Raw transaction amount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solidFill>
            <a:srgbClr val="1E3F6B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09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Business Rule Derived: FLAG any CASH_OUT or TRANSFER where sender balance → $0 AND amount &gt; 90% of prior balance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4 Pages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 · Fraud Patterns · Account Drill-Through · ML Performance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160520" cy="181051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502920" cy="1810512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64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11155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Dashboard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4356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Leadership / Risk Management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1832" y="168249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(Fraud Rate, Loss, Detection Rate) · Trend line · Risk tier donut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024128"/>
            <a:ext cx="4160520" cy="181051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24128"/>
            <a:ext cx="502920" cy="1810512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66420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85232" y="11155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Pattern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14356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Fraud Analysts / Risk Teams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85232" y="168249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(Type × Hour) · Scatter (Amount vs Risk) · Zero-balance bar chart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4160520" cy="181051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35808"/>
            <a:ext cx="502920" cy="1810512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758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" y="31272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Drill-Through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1832" y="34472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Case Investigators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1832" y="369417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txns per account · Timeline · Risk score history · Full audit trail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035808"/>
            <a:ext cx="4160520" cy="1810512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35808"/>
            <a:ext cx="502920" cy="1810512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6758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85232" y="312724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Performance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85232" y="344728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Data Science / Tech Team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85232" y="369417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bar · Model comparison table · Alert priority queue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892040"/>
            <a:ext cx="8503920" cy="2743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194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DAX Measures: Fraud Rate %, Total Fraud Loss, Detection Rate %, False Alarm Rate %, Avg Risk Score, Risk Exposure, Peak Fraud Hour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Business 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analysis to actionable fraud prevention strategies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86868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45720" cy="86868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Insight 1: Account Drain = Fraud Signature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where sender's balance goes to $0 have 18× the base fraud rate. This is the strongest single predictor — detectable by simple SQL rule without any ML.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23560" y="1097280"/>
            <a:ext cx="3063240" cy="71323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113385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Flag all CASH_OUT/TRANSFER where new_balance_orig = 0 for immediate review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984248"/>
            <a:ext cx="8503920" cy="86868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84248"/>
            <a:ext cx="45720" cy="86868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39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Insight 2: Transaction Type Narrows Search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286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fraud occurs in only 2 of 5 transaction types (CASH_OUT, TRANSFER). Limiting monitoring to these types reduces the investigation queue by 57% with zero fraud missed.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23560" y="2057400"/>
            <a:ext cx="3063240" cy="71323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6" name="Text 14"/>
          <p:cNvSpPr/>
          <p:nvPr/>
        </p:nvSpPr>
        <p:spPr>
          <a:xfrm>
            <a:off x="5715000" y="209397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Restrict real-time ML scoring to CASH_OUT and TRANSFER only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944368"/>
            <a:ext cx="8503920" cy="86868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44368"/>
            <a:ext cx="45720" cy="86868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999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Insight 3: Large Transactions Drive Loss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2461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of transactions by amount account for 60%+ of total fraud loss. Fraud transactions are 3.5× larger than legitimate transactions on average.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23560" y="3017520"/>
            <a:ext cx="3063240" cy="71323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305409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Apply enhanced verification (OTP + call-back) for amounts &gt; $200K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904488"/>
            <a:ext cx="8503920" cy="86868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904488"/>
            <a:ext cx="45720" cy="86868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959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Insight 4: ML Catches What Rules Miss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206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(AUC 0.92, Recall 0.78) catches fraud that rule-based systems miss by combining multiple weak signals. System flag alone has 22%+ false negative rate.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23560" y="3977640"/>
            <a:ext cx="3063240" cy="71323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401421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Deploy RF probability score alongside existing rules — flag anything &gt; 0.60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&amp; Tech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from raw data to Power BI dashboard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664208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664208" cy="45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(PaySim CSV)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8105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rows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38528" y="1737360"/>
            <a:ext cx="438912" cy="365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1188720"/>
            <a:ext cx="1664208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3D9BE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1188720"/>
            <a:ext cx="1664208" cy="45720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26187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8105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NumPy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pipeline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67328" y="1737360"/>
            <a:ext cx="438912" cy="36576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0" y="1188720"/>
            <a:ext cx="1664208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FF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1188720"/>
            <a:ext cx="1664208" cy="45720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26187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18105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queries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Fns · CTEs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596128" y="1737360"/>
            <a:ext cx="438912" cy="36576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1188720"/>
            <a:ext cx="1664208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60720" y="1188720"/>
            <a:ext cx="1664208" cy="4572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26187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(Scikit-learn)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18105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· DT · RF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0.92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24928" y="1737360"/>
            <a:ext cx="438912" cy="36576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0" y="1188720"/>
            <a:ext cx="1664208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89520" y="1188720"/>
            <a:ext cx="1664208" cy="45720"/>
          </a:xfrm>
          <a:prstGeom prst="rect">
            <a:avLst/>
          </a:prstGeom>
          <a:solidFill>
            <a:srgbClr val="00C6FF"/>
          </a:solidFill>
          <a:ln w="12700">
            <a:solidFill>
              <a:srgbClr val="00C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126187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589520" y="1810512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DAX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2606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292608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 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" y="2926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data_cleaning.py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30352" y="3127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cleaning pipeline with logging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17720" y="2926080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 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73752" y="2926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eda.py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73752" y="31272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bivariate, multivariate analysis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" y="336499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 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model_training.py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" y="3566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DT + RF with full evaluation suite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17720" y="336499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 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73752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fraud_analysis.sql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73752" y="3566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queries: KPIs, window functions, CTEs, SPs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380390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 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" y="3803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dashboard_documentation.md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30352" y="40050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Power BI guide: DAX + layout + drill-through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17720" y="3803904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 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73752" y="3803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73752" y="40050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portfolio documentation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4320" y="424281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 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30352" y="4242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interview_preparation.md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30352" y="44439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Q&amp;A for DA/DS interviews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617720" y="4242816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 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73752" y="42428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resume_positioning.md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873752" y="44439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bullets + LinkedIn description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54864" cy="82296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 &amp; Production Roadmap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portfolio project to production-grade fraud detection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788920" cy="356616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2788920" cy="54864"/>
          </a:xfrm>
          <a:prstGeom prst="rect">
            <a:avLst/>
          </a:prstGeom>
          <a:solidFill>
            <a:srgbClr val="3D9BE9"/>
          </a:solidFill>
          <a:ln w="12700">
            <a:solidFill>
              <a:srgbClr val="3D9B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D9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SMOTE / ADASYN comparison for imbalance handling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350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XGBoost model for performance benchmarking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035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SHAP values for individual transaction explainability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3721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Threshold tuning using business cost matrix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024128"/>
            <a:ext cx="2788920" cy="356616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24128"/>
            <a:ext cx="2788920" cy="54864"/>
          </a:xfrm>
          <a:prstGeom prst="rect">
            <a:avLst/>
          </a:prstGeom>
          <a:solidFill>
            <a:srgbClr val="FFA500"/>
          </a:solidFill>
          <a:ln w="12700">
            <a:solidFill>
              <a:srgbClr val="FF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97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664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Flask REST API: POST /score-transaction → fraud probability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83280" y="2350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MLflow model tracking and experiment management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83280" y="3035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Automated retraining pipeline when fraud patterns drift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83280" y="3721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Isolation Forest for unsupervised anomaly detection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1024128"/>
            <a:ext cx="2788920" cy="356616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024128"/>
            <a:ext cx="2788920" cy="5486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097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1664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AWS/GCP cloud deployment with auto-scaling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23500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Kafka streaming for real-time transaction scoring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55080" y="30358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Graph analytics: detect fraud ring networks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37216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Regulatory compliance: GDPR/RBI explainability audit trail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663440"/>
            <a:ext cx="850392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365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I'm building toward: end-to-end ownership — from raw data to deployed model to business impact measurement.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E84040">
              <a:alpha val="25000"/>
            </a:srgbClr>
          </a:solidFill>
          <a:ln w="12700">
            <a:solidFill>
              <a:srgbClr val="E8404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675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&amp; What I Learned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Cleaning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21408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9-step Python pipeline · 10K transactions · 25 features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EDA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19088" y="14173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5-section analysis · 18× fraud lift confirmed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21408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queries · Window Fns, CTEs, Stored Procs, Views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19088" y="22402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· RF AUC 0.92 · Recall 0.78 · class_weight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063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Power BI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21408" y="3063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pages · 10+ DAX · Drill-through · KPI monitoring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063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Docs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19088" y="3063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· 50+ Interview Q&amp;A · ATS resume bullets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1E3F6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69080"/>
            <a:ext cx="8229600" cy="4572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879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Dudala Vinay Kumar Goud (Tony)  ·  B.Tech CSE · GNIT Hyderabad  ·  CGPA: 8.11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4622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vinayygoudd.github.io    💻  github.com/vinayygoudd    🔗  linkedin.com/in/vinayygoudd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Transaction Fraud Detection &amp; Risk Analytics</dc:title>
  <dc:subject>PptxGenJS Presentation</dc:subject>
  <dc:creator>Dudala Vinay Kumar Goud (Tony)</dc:creator>
  <cp:lastModifiedBy>Dudala Vinay Kumar Goud (Tony)</cp:lastModifiedBy>
  <cp:revision>1</cp:revision>
  <dcterms:created xsi:type="dcterms:W3CDTF">2026-05-10T05:41:41Z</dcterms:created>
  <dcterms:modified xsi:type="dcterms:W3CDTF">2026-05-10T05:41:41Z</dcterms:modified>
</cp:coreProperties>
</file>